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0E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Brasil 2026</c:v>
                  </c:pt>
                  <c:pt idx="1">
                    <c:v>Global 2026</c:v>
                  </c:pt>
                  <c:pt idx="2">
                    <c:v>Brasil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81</c:v>
                </c:pt>
                <c:pt idx="2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A0E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tese: o jogo virou de capacidade de modelo para governança e economia da frota de agentes. Os 3 blocos = produto+risco, governança, janela regulatória.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Dados-âncora. O número que vende é o 83%: se o banco não distingue agente legítimo de hostil, a defesa migra para identidade/mandato do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portfólio. Cada oferta = uma dor. Detalhe de cada uma no apêndice.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vendemos consultoria sobre frameworks abertos (credibilidade), com aceleradores proprietários (Veltrix/Cohort) que encurtam a entrega — não como produto vendido, como velocidade.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Gatilho de venda: BB opera 12 mil agentes; CMN 5.274/BCB 538 exigem “controle comprovável”.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Gatilho de venda: Itaú cortou 44% do custo de processamento com arquitetura; ninguém abre custo por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Gatilho de venda: Comef nomeou “dependências comuns”; o “AI kill switch” de export control deixou de ser hipótese.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Gatilho de venda: 90% dos pares já apontam a IA agêntica como próxima arma do crime; metade dos bancos perde &gt;US$10M/ano.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Gatilho de venda: Inadimplência de neobancos saltou de 7,71% para 20,31% (2021–2025).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0A37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108960"/>
            <a:ext cx="4754880" cy="47548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173736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CONSULTORIA · BANKING AI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6060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Governar a frota de agentes,
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só adotá-la.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94360" y="4343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consultivas para risco, governança, soberania e economia de IA no setor financeiro — lastreadas na inteligência diária One Banking AI.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Curadoria: Team Sector Banking</a:t>
            </a:r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Edição de referência: 27/jun/2026   ·   Uso interno e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saiu de “qual modelo usar” para “como governar a frota de agentes”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93976"/>
            <a:ext cx="731520" cy="7315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0939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de agente virou o produto — e o risco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20240" y="2441448"/>
            <a:ext cx="9357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 entrega software em 14h (era 18 dias) e cobra por voz no balcão; Nubank põe um “private banker” de IA na mão de 15M; BB opera 12 mil agentes. A mesma camada que gera receita virou vetor de ataque.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319272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6968" y="3630168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630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3520440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é manchete; a governança é a notícia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20240" y="3977640"/>
            <a:ext cx="9357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das IFs brasileiras viram a fraude subir em 2026 e 90% apontam a IA agêntica como a próxima arma do crime (BioCatch). O diferencial migrou do modelo para mandato, trilha e custo da frota.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855464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51663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5056632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regulatória está aberta — por pouco tempo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20240" y="5513832"/>
            <a:ext cx="9357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de IA do Bacen ainda é “estudo”; a de cyber já saiu de “ter política” para “provar que funciona” (CMN 5.274/BCB 538). Quem montar governança auditável agora vira referência, não alvo.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EM NÚMEROS · BRASIL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corrida de IA bancária no Brasil já está em escala industrial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5998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029968"/>
            <a:ext cx="25998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18d → 14h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produto entregue por agentes no Itaú (modo autônomo)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3346704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Inside · 03/jun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95396" y="1828800"/>
            <a:ext cx="25998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5396" y="2029968"/>
            <a:ext cx="25998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59988" y="2697480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 no “AI Private Banker” do Nubank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9988" y="3346704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Videocast · 11/jun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96432" y="1828800"/>
            <a:ext cx="25998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6432" y="2029968"/>
            <a:ext cx="25998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361024" y="2697480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Copilot + 1.200 modelos de IA em produção no BB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1024" y="3346704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Inside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97467" y="1828800"/>
            <a:ext cx="259986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97467" y="2029968"/>
            <a:ext cx="25998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162059" y="2697480"/>
            <a:ext cx="2270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no investimento em IA do setor bancário (orçamento tech R$ 47,8 bi)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62059" y="3346704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Febraban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397764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Instituições financeiras que reportaram ALTA de fraude</a:t>
            </a:r>
            <a:endParaRPr lang="en-US" sz="12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4434840"/>
          <a:ext cx="5212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355080" y="3977640"/>
            <a:ext cx="5242255" cy="2331720"/>
          </a:xfrm>
          <a:prstGeom prst="roundRect">
            <a:avLst>
              <a:gd name="adj" fmla="val 3529"/>
            </a:avLst>
          </a:prstGeom>
          <a:solidFill>
            <a:srgbClr val="0A0E1A"/>
          </a:solidFill>
          <a:ln/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629400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400" dirty="0"/>
          </a:p>
        </p:txBody>
      </p:sp>
      <p:sp>
        <p:nvSpPr>
          <p:cNvPr id="25" name="Text 22"/>
          <p:cNvSpPr/>
          <p:nvPr/>
        </p:nvSpPr>
        <p:spPr>
          <a:xfrm>
            <a:off x="6629400" y="4892040"/>
            <a:ext cx="4693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líderes financeiros BR já veem a IA agêntica como a principal vulnerabilidade que o crime vai explorar — e 83% admitem não conseguir distinguir uma ação legítima assistida por IA de uma maliciosa.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629400" y="5989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BioCatch (100 líderes de IFs) · Let’s Money / Biometric Update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ENDEREÇAMOS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todo mundo tem. O que falta é prova, custo e controle da frota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64328" cy="4206240"/>
          </a:xfrm>
          <a:prstGeom prst="roundRect">
            <a:avLst>
              <a:gd name="adj" fmla="val 2174"/>
            </a:avLst>
          </a:prstGeom>
          <a:solidFill>
            <a:srgbClr val="0A0E1A"/>
          </a:solidFill>
          <a:ln/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BOARD (quem assina)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23160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“Temos milhares de agentes em produção e não sei quem responde por cada um.”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40156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264408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“Aumentamos 61% o investimento em IA e não sei o ROI real por caso de uso.”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24281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05656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um fornecedor de fora desligar o modelo, nossa decisão de crédito/antifraude para?”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508406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946904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“Nosso motor de crédito é defensável quando o cliente pedir revisão humana (LGPD art. 20)?”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5364328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205740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ÁREA (quem usa)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53048" y="256032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827368" y="2423160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padrão de mandato do agente, curva de autonomia e gate de promoção a produção.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53048" y="340156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27368" y="3264408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inferência opaca — sem teto por caso de uso, sem build-vs-buy auditável.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53048" y="424281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827368" y="4105656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plano B de modelo por jurisdição; residência de dados mal mapeada.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53048" y="5084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827368" y="4946904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automatizada sobre Open Finance sem trilha por decisão nem baseline de inadimplência.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PORTFÓLIO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ofertas consultivas — uma para cada dor da frota de 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3354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6654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66544"/>
            <a:ext cx="23448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&amp; Mandato de Agentes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29849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Mandato, curva de autonomia e trilha auditável para o agent estate.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padrão de mandato e gate de promoção a produção.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9074" y="1828800"/>
            <a:ext cx="353354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5106" y="2066544"/>
            <a:ext cx="566928" cy="566928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5106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9194" y="2066544"/>
            <a:ext cx="23448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de IA — custo por agente/decisão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03394" y="2761488"/>
            <a:ext cx="29849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da IA: custo por inferência, teto por caso de uso, build-vs-buy.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3394" y="3346704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inferência opaca, sem teto por agente.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63789" y="1828800"/>
            <a:ext cx="353354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9821" y="2066544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319821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23909" y="2066544"/>
            <a:ext cx="23448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 &amp; Continuidade de Modelo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8109" y="2761488"/>
            <a:ext cx="29849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jurisdição, residência de dados e plano B soberano de modelo.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38109" y="3346704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plano B de modelo por jurisdição; dado mal mapeado.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4005072"/>
            <a:ext cx="353354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0392" y="4242816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4242816"/>
            <a:ext cx="23448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 Agêntica (agente vs agente)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68680" y="4937760"/>
            <a:ext cx="29849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de agente como controle antifraude e stress-test do funil agentic.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5522976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agentic commerce sem stress-test; legítimo × malicioso indistinguíveis.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29074" y="4005072"/>
            <a:ext cx="3533546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5106" y="4242816"/>
            <a:ext cx="566928" cy="56692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30" name="Text 28"/>
          <p:cNvSpPr/>
          <p:nvPr/>
        </p:nvSpPr>
        <p:spPr>
          <a:xfrm>
            <a:off x="4585106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9194" y="4242816"/>
            <a:ext cx="23448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AI-native Auditável (LGPD art. 20)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03394" y="4937760"/>
            <a:ext cx="29849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por decisão, baseline de inadimplência e explicabilidade da negativa.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03394" y="5522976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Resolve: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automatizada sem trilha nem baseline provisionado.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63789" y="4005072"/>
            <a:ext cx="3533546" cy="1993392"/>
          </a:xfrm>
          <a:prstGeom prst="roundRect">
            <a:avLst>
              <a:gd name="adj" fmla="val 4128"/>
            </a:avLst>
          </a:prstGeom>
          <a:solidFill>
            <a:srgbClr val="0A0E1A"/>
          </a:solidFill>
          <a:ln/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38109" y="4261104"/>
            <a:ext cx="29849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Perfis &amp; squad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38109" y="4718304"/>
            <a:ext cx="29849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perfis escassos (AI Governance, FinOps de IA, Sovereign AI, Agentic Fraud) como squad-as-a-service.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DOR → OFERTA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dor de board ao gatilho de venda desta semana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0297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651760"/>
                <a:gridCol w="31363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 de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 de área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 de venda (semana 21–25/jun)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Governança &amp; Mandato de Agentes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sei quem responde por cada agente em produção.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padrão de mandato e gate de promoção a produção.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 opera 12 mil agentes; CMN 5.274/BCB 538 exigem “controle comprovável”.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 de IA — custo por agente/decisão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Gastamos +61% em IA e não sei o ROI real.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de inferência opaca, sem teto por agente.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Itaú cortou 44% do custo de processamento com arquitetura; ninguém abre custo por agente.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Soberania &amp; Continuidade de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Estamos reféns de um fornecedor de fora?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plano B de modelo por jurisdição; dado mal mapeado.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Comef nomeou “dependências comuns”; o “AI kill switch” de export control deixou de ser hipótese.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Antifraude Agêntica (agente vs agente)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IA virou arma contra o banco?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Funil de agentic commerce sem stress-test; legítimo × malicioso indistinguíveis.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dos pares já apontam a IA agêntica como próxima arma do crime; metade dos bancos perde &gt;US$10M/ano.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AI-native Auditável (LGPD art. 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Nosso motor de crédito é defensável num pedido de revisão?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 automatizada sem trilha nem baseline provisionado.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Inadimplência de neobancos saltou de 7,71% para 20,31% (2021–2025).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IMPLEMENTAÇÃO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land → prove → expand → anchor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545004" cy="274320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18488" y="2350008"/>
            <a:ext cx="1447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2–3 semanas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1996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barata e rápida, por dor. Entrega sempre um artefato de board (indicador que o executivo nunca viu).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7652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3684" y="1965960"/>
            <a:ext cx="2545004" cy="2743200"/>
          </a:xfrm>
          <a:prstGeom prst="roundRect">
            <a:avLst>
              <a:gd name="adj" fmla="val 3234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8004" y="22402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8800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7812" y="2350008"/>
            <a:ext cx="1447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88004" y="304495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em fluxos reais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88004" y="3520440"/>
            <a:ext cx="1996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2–3 fluxos críticos, com métrica antes/depois e trilha auditável. Risco contido, valor demonstrado.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76976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33008" y="1965960"/>
            <a:ext cx="2545004" cy="274320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7328" y="22402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57136" y="2350008"/>
            <a:ext cx="1447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07328" y="304495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/ squad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3520440"/>
            <a:ext cx="1996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contínua, FinOps recorrente ou defesa agêntica operada; e/ou squad de perfis alocado.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96299" y="30175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52331" y="1965960"/>
            <a:ext cx="2545004" cy="2743200"/>
          </a:xfrm>
          <a:prstGeom prst="roundRect">
            <a:avLst>
              <a:gd name="adj" fmla="val 3234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651" y="2240280"/>
            <a:ext cx="640080" cy="64008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651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76459" y="2350008"/>
            <a:ext cx="1447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26651" y="304495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quarterly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26651" y="3520440"/>
            <a:ext cx="1996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Trimestralmente, os 3 indicadores fiduciários ao comitê: % agentes com mandato, custo por decisão, % carga estrangeira.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507492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0A0E1A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2120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comum de entrega: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Diagnóstico (gap NIST AI RMF / ISO 42001) → Desenho → Piloto → Operação.  Cada oferta segue essa espinha, com profundidade própria no apêndice.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ENGAJAMENTO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baixo atrito, expansão por recorrência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484778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03504" cy="603504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1912" y="22860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fixo · 2–3 semanas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por dor que devolve um artefato de board. Sem dependência longa.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CRO / CISO / CFO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53458" y="1920240"/>
            <a:ext cx="3484778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7778" y="2194560"/>
            <a:ext cx="603504" cy="6035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27778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1010" y="22860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7778" y="29718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fechado · 4–6 semanas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27778" y="33375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em fluxos críticos, com métrica antes/depois e trilha auditável.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7778" y="429768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Head de área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2557" y="1920240"/>
            <a:ext cx="3484778" cy="2834640"/>
          </a:xfrm>
          <a:prstGeom prst="roundRect">
            <a:avLst>
              <a:gd name="adj" fmla="val 2903"/>
            </a:avLst>
          </a:prstGeom>
          <a:solidFill>
            <a:srgbClr val="0A0E1A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6877" y="2194560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386877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00109" y="22860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/ Squad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6877" y="29718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 · mensal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86877" y="33375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 (governança, FinOps, antifraude) e/ou squad de perfis alocado.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6877" y="429768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sobre economia comprovada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0292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 90s: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“Vocês já têm os agentes — isso é manchete. O que ainda não têm é prova de quem fez o quê, a que custo e sob qual jurisdição. A régua do Bacen já saiu de ‘ter política’ para ‘provar que funciona’. Começamos com um assessment de 2 semanas que devolve um indicador que o board nunca viu.”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· SQUAD-AS-A-SERVICE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squad de governança e economia de 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6654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975104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2221992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Mandato, curva de autonomia, gates de produção.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0148" y="1920240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2066544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10" name="Text 8"/>
          <p:cNvSpPr/>
          <p:nvPr/>
        </p:nvSpPr>
        <p:spPr>
          <a:xfrm>
            <a:off x="6804508" y="1975104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de IA / AI Cost Engineer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04508" y="2221992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 e otimiza custo por inferência/agente.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52928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99232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907792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&amp; Compliance (Bacen/LGPD/EU AI Act)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regra em controle comprovável.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0148" y="2852928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3028" y="2999232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04508" y="2907792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Architect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04508" y="3154680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jurisdição, residência, plano B.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785616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3192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840480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Fraud / AI Security Engineer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88720" y="4087368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agente-vs-agente, identidade de agente.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0148" y="3785616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931920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6" name="Text 24"/>
          <p:cNvSpPr/>
          <p:nvPr/>
        </p:nvSpPr>
        <p:spPr>
          <a:xfrm>
            <a:off x="6804508" y="3840480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Architect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04508" y="4087368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/ ISO 42001, explicabilidade, viés.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718304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864608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30" name="Text 28"/>
          <p:cNvSpPr/>
          <p:nvPr/>
        </p:nvSpPr>
        <p:spPr>
          <a:xfrm>
            <a:off x="1188720" y="4773168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/ MLOps Engineer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88720" y="5020056"/>
            <a:ext cx="465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a produção, observabilidade, trilha.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0148" y="4718304"/>
            <a:ext cx="5387188" cy="749808"/>
          </a:xfrm>
          <a:prstGeom prst="roundRect">
            <a:avLst>
              <a:gd name="adj" fmla="val 8537"/>
            </a:avLst>
          </a:prstGeom>
          <a:solidFill>
            <a:srgbClr val="0A0E1A"/>
          </a:solidFill>
          <a:ln/>
        </p:spPr>
      </p:sp>
      <p:sp>
        <p:nvSpPr>
          <p:cNvPr id="33" name="Text 31"/>
          <p:cNvSpPr/>
          <p:nvPr/>
        </p:nvSpPr>
        <p:spPr>
          <a:xfrm>
            <a:off x="6438748" y="4791456"/>
            <a:ext cx="492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perfis que falam board e área ao mesmo tempo — o que a curva de autonomia exige.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&amp; ACELERADORES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abertos + aceleradores proprietários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484778" cy="384048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67128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307592" y="2148840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normas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86968" y="2990088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71216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3648456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29584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" y="4306824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87952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(financeiro)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" y="4965192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46320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20 · Bacen CMN 5.274/BCB 538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3458" y="1874520"/>
            <a:ext cx="3484778" cy="384048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7778" y="216712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066690" y="2148840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&amp; observabilidade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46066" y="299008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902098" y="2871216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watsonx.governance-class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6066" y="3648456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902098" y="3529584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 &amp; evals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6066" y="4306824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902098" y="4187952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/ audit logging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6066" y="496519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902098" y="4846320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bias testing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12557" y="1874520"/>
            <a:ext cx="3484778" cy="3840480"/>
          </a:xfrm>
          <a:prstGeom prst="roundRect">
            <a:avLst>
              <a:gd name="adj" fmla="val 2362"/>
            </a:avLst>
          </a:prstGeom>
          <a:solidFill>
            <a:srgbClr val="0A0E1A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6877" y="2167128"/>
            <a:ext cx="310896" cy="3108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8" name="Text 26"/>
          <p:cNvSpPr/>
          <p:nvPr/>
        </p:nvSpPr>
        <p:spPr>
          <a:xfrm>
            <a:off x="8825789" y="2148840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Aceleradores proprietários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405165" y="2990088"/>
            <a:ext cx="118872" cy="118872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0" name="Text 28"/>
          <p:cNvSpPr/>
          <p:nvPr/>
        </p:nvSpPr>
        <p:spPr>
          <a:xfrm>
            <a:off x="8661197" y="2871216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Veltrix — FinOps &amp; observabilidade de IA (método CARO)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05165" y="3648456"/>
            <a:ext cx="118872" cy="118872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2" name="Text 30"/>
          <p:cNvSpPr/>
          <p:nvPr/>
        </p:nvSpPr>
        <p:spPr>
          <a:xfrm>
            <a:off x="8661197" y="3529584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— governança da força de trabalho de agentes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05165" y="4306824"/>
            <a:ext cx="118872" cy="118872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4" name="Text 32"/>
          <p:cNvSpPr/>
          <p:nvPr/>
        </p:nvSpPr>
        <p:spPr>
          <a:xfrm>
            <a:off x="8661197" y="4187952"/>
            <a:ext cx="2707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jurisdição/sensibilidade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ILUSTRATIVO DE ENTREGA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assessment a operação em ~90 dias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10454335" cy="0"/>
          </a:xfrm>
          <a:prstGeom prst="line">
            <a:avLst/>
          </a:prstGeom>
          <a:noFill/>
          <a:ln w="25400">
            <a:solidFill>
              <a:srgbClr val="E4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6600" y="3401568"/>
            <a:ext cx="237744" cy="237744"/>
          </a:xfrm>
          <a:prstGeom prst="ellipse">
            <a:avLst/>
          </a:prstGeom>
          <a:solidFill>
            <a:srgbClr val="00A3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032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19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192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192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Inventário, gap NIST/ISO, artefato de board.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70184" y="3401568"/>
            <a:ext cx="237744" cy="23774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4616" y="38404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91776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4–7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91776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&amp; piloto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91776" y="4462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Mandato, curva de autonomia, prova em 2–3 fluxos.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83768" y="3401568"/>
            <a:ext cx="237744" cy="23774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820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536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8–12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536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&amp; escala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536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Runbook, painéis, indicadores ao comitê.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97351" y="3401568"/>
            <a:ext cx="237744" cy="237744"/>
          </a:xfrm>
          <a:prstGeom prst="ellipse">
            <a:avLst/>
          </a:prstGeom>
          <a:solidFill>
            <a:srgbClr val="E0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81783" y="38404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0E1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18943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18943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 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18943" y="4462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indicadores fiduciários; expansão por recorrência.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0A37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por uma dor — e leve um indicador que o board nunca viu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11002975" cy="987552"/>
          </a:xfrm>
          <a:prstGeom prst="roundRect">
            <a:avLst>
              <a:gd name="adj" fmla="val 7407"/>
            </a:avLst>
          </a:prstGeom>
          <a:solidFill>
            <a:srgbClr val="121829"/>
          </a:solidFill>
          <a:ln w="12700">
            <a:solidFill>
              <a:srgbClr val="2331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05456"/>
            <a:ext cx="548640" cy="54864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243230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1–2 ofertas-farol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432304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Governança de Agentes + FinOps de IA — dores mais transversais e gatilho mais quente.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1002975" cy="987552"/>
          </a:xfrm>
          <a:prstGeom prst="roundRect">
            <a:avLst>
              <a:gd name="adj" fmla="val 7407"/>
            </a:avLst>
          </a:prstGeom>
          <a:solidFill>
            <a:srgbClr val="121829"/>
          </a:solidFill>
          <a:ln w="12700">
            <a:solidFill>
              <a:srgbClr val="2331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648456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357530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um assessment de 2–3 semanas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575304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fixo, por dor, com artefato de board ao final. Baixo atrito, valor visível.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572000"/>
            <a:ext cx="11002975" cy="987552"/>
          </a:xfrm>
          <a:prstGeom prst="roundRect">
            <a:avLst>
              <a:gd name="adj" fmla="val 7407"/>
            </a:avLst>
          </a:prstGeom>
          <a:solidFill>
            <a:srgbClr val="121829"/>
          </a:solidFill>
          <a:ln w="12700">
            <a:solidFill>
              <a:srgbClr val="2331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9145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91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471830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contas-alvo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718304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cada dor com o estudo Where To Play Banking (MTP 27-29) e priorizar abordagem.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1264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Sector Banking · NTT DATA   —   contato para um workshop de descoberta.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em detalhe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time de delivery: dor, escopo, passo a passo, KPIs, ferramentas e perfis por oferta.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OFERTA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&amp; Mandato de Agentes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28655" y="713232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728655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sei quem responde por cada agente em produção.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padrão de mandato e gate de promoção a produção.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2628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67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quem aprovou o quê, com qual escopo — pronta para auditoria e regulador.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9204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0A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DIRIA NUM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2852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agentes sem mandato é passivo de auditoria esperando acontecer.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13969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09397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inventário do estate de agentes — 1 sem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250545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45973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— gap NIST AI RMF / ISO 42001 — 2 sem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287121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82549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— mandato + curva de autonomia + human-in-the-loop — 2 sem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23697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19125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— 2–3 fluxos críticos (atendimento, código, crédito) — 2–3 sem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55701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— runbook de promoção + painel de trilha — 1–2 sem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agentes com dono, escopo e log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promoção a produção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trilha auditável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80196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63076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81364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watsonx.governance-class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(acelerador)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5358384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5614416"/>
            <a:ext cx="2333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&amp; Compliance (Bacen/LGPD)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Engineer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80196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63076" y="5358384"/>
            <a:ext cx="2351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63076" y="5596128"/>
            <a:ext cx="2351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Governance Assessment — 2 semanas, preço fixo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OFERTA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de IA — custo por agente/decisão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28655" y="713232"/>
            <a:ext cx="777240" cy="77724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5" name="Text 3"/>
          <p:cNvSpPr/>
          <p:nvPr/>
        </p:nvSpPr>
        <p:spPr>
          <a:xfrm>
            <a:off x="10728655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Gastamos +61% em IA e não sei o ROI real.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inferência opaca, sem teto por agente.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2628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67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board “custo de IA por interação atendida” + economia comprovada por log.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9204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0A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DIRIA NUM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2852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fiduciário não é “quanto investimos”, é “quanto cada agente custa por decisão”.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139696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09397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gasto atual por fornecedor/uso/área — 1–2 sem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2505456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45973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Instrumentação — observabilidade de custo por inferência — 2 sem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2871216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82549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custo por decisão atendida — 1 sem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236976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19125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— tetos, alertas e gates por caso de uso — 1 sem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274320" cy="274320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55701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— roteamento por custo/sensibilidade — 1–2 sem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IA por interação/decisão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desperdício eliminado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comprovada (R$)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80196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63076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81364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Veltrix (proxy/observabilidade, método CARO)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for AI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modelo/jurisdição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5358384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5614416"/>
            <a:ext cx="2333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de IA / AI Cost Engineer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Plataforma/MLOps Engineer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de Soluções de IA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80196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63076" y="5358384"/>
            <a:ext cx="2351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63076" y="5596128"/>
            <a:ext cx="2351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Audit — 3 semanas, preço fixo (+ upside sobre economia)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OFERTA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 &amp; Continuidade de Modelo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28655" y="713232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728655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reféns de um fornecedor de fora?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plano B de modelo por jurisdição; dado mal mapeado.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2628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67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de continuidade auditável — não compliance de papel.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9204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0A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DIRIA NUM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2852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 de IA não é nacionalismo — é o “dependências comuns” do Comef como risco de continuidade.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139696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09397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dependência por caso crítico — 1–2 sem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2505456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45973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risco (kill switch, preço, dado, disponibilidade) — 1 sem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2871216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82549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roteamento por jurisdição + residência — 2 sem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236976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19125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— simulação de failover de modelo + log — 1 sem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55701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board — % de carga em jurisdição estrangeira — 1 sem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carga em jurisdição estrangeira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críticos com plano B ativo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failover de modelo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80196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63076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81364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Veltrix (roteamento por jurisdição)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mapping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5358384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5614416"/>
            <a:ext cx="2333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Architect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Specialist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de Dados (residência)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80196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63076" y="5358384"/>
            <a:ext cx="2351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63076" y="5596128"/>
            <a:ext cx="2351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Concentration Risk Review — 2 semanas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OFERTA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 Agêntica (agente vs agente)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28655" y="713232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728655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virou arma contra o banco?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agentic commerce sem stress-test; legítimo × malicioso indistinguíveis.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2628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67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que prova identidade e mandato do agente, não só detecta anomalia.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9204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0A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DIRIA NUM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2852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defesa migra de “detectar comportamento” para “provar identidade e mandato do agente”.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13969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09397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agêntico (voz/pagamento/crédito) — 2 sem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250545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45973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do funil vs fraude sintética — 2–3 sem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287121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82549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de agente como gate antifraude — 2 sem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23697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19125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agêntico — curva de autonomia + custo por varredura — 2 sem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55701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— runbook + trilha por correção — 2 sem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ações por agente com identidade verificável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não-distinção (o 83%) reduzida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evitada (US$)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80196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63076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81364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(identidade/mandato)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Veltrix (custo do SOC)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a prompt injection / tool exfiltration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5358384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5614416"/>
            <a:ext cx="2333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Fraud Architect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Engineer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Data Scientist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80196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63076" y="5358384"/>
            <a:ext cx="2351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63076" y="5596128"/>
            <a:ext cx="2351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Fraud Readiness — 3 semanas (red-team do funil)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OFERTA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AI-native Auditável (LGPD art. 20)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28655" y="713232"/>
            <a:ext cx="777240" cy="77724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5" name="Text 3"/>
          <p:cNvSpPr/>
          <p:nvPr/>
        </p:nvSpPr>
        <p:spPr>
          <a:xfrm>
            <a:off x="10728655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motor de crédito é defensável num pedido de revisão?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automatizada sem trilha nem baseline provisionado.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2628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67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“controle comprovável” pronto para regulador/auditoria + governança como marca.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9204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0A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DIRIA NUM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2852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crédito sem baseline de inadimplência e sem trilha de revisão é fé, não risco gerido.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139696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09397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— onde a IA nega sem revisão registrada — 2 sem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2505456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45973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por decisão — fluxo de revisão humana (art. 20) — 2 sem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2871216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82549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risco — inadimplência por safra + provisão — 2 sem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236976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19125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&amp; viés — razão da negativa + testes — 2 sem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557016"/>
            <a:ext cx="5269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de evidência — dossiê auditável — 1–2 sem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decisões com trilha de revisão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por safra monitorada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explicabilidade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80196" y="4059936"/>
            <a:ext cx="27171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63076" y="4151376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81364" y="4407408"/>
            <a:ext cx="23330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lifecycle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/ bias testing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watsonx.governance-class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5358384"/>
            <a:ext cx="2351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5614416"/>
            <a:ext cx="2333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&amp; Model Governance Lead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Data Scientist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Privacy Counsel (LGPD)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80196" y="5266944"/>
            <a:ext cx="27171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63076" y="5358384"/>
            <a:ext cx="2351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63076" y="5596128"/>
            <a:ext cx="2351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Model Governance Gap — 2 semanas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&amp; METODOLOGIA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Lastro da semana 21–25/jun/2026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10029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 — agentes 18d→14h e Laranjinha+ por voz: TI Inside (03/jun; 24/jun).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 — AI Private Banker, 15M MAU: Nu Videocast (11/jun).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do Brasil — 12 mil agentes Copilot / 36 mil em formação: TI Inside; Convergência Digital.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Bradesco — ~20 agentes por pessoa, plataforma Bridge, BIA 87%/25M: Convergência Digital.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BioCatch — 89% / 90% / 83% e perdas &gt;US$10M/ano: Let’s Money; Biometric Update.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de neobancos 7,71%→20,31% (2021–2025): Equifax Boa Vista via Finsiders.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IA +61% e orçamento tech R$ 47,8 bi: Pesquisa Febraban de Tecnologia Bancária (via Dock).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Comef “dependências comuns”: Ata da 65ª reunião (via Finsiders). CMN 5.274/BCB 538: Matera; NDM.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global: Global AI in Financial Services 2026 (CCAF/Cambridge, pág 7–8); soberania/kill switch (CFR; AI Weekly).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síntese própria sob a lente CAIO (setor financeiro · governança · soberania · economia de IA); nunca tradução integral.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Banking AI · Portfólio de Consultoria — Banking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39535" y="6473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e confidencial · cruza com Where To Play Banking (MTP 27-29)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Banking AI — Portfólio de Consultoria</dc:title>
  <dc:subject>PptxGenJS Presentation</dc:subject>
  <dc:creator>Team Sector Banking · NTT DATA</dc:creator>
  <cp:lastModifiedBy>Team Sector Banking · NTT DATA</cp:lastModifiedBy>
  <cp:revision>1</cp:revision>
  <dcterms:created xsi:type="dcterms:W3CDTF">2026-06-27T16:52:07Z</dcterms:created>
  <dcterms:modified xsi:type="dcterms:W3CDTF">2026-06-27T16:52:07Z</dcterms:modified>
</cp:coreProperties>
</file>